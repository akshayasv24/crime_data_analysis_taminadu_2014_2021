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72" r:id="rId3"/>
    <p:sldId id="277" r:id="rId4"/>
    <p:sldId id="273" r:id="rId5"/>
    <p:sldId id="274" r:id="rId6"/>
    <p:sldId id="275" r:id="rId7"/>
    <p:sldId id="276" r:id="rId8"/>
    <p:sldId id="257" r:id="rId9"/>
    <p:sldId id="256" r:id="rId10"/>
    <p:sldId id="260" r:id="rId11"/>
    <p:sldId id="261" r:id="rId12"/>
    <p:sldId id="258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59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575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28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021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84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50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99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63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800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40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60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9816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092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1178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716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463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62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B518D-FB61-4B5D-9359-6C2FAB02E203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C196E05-378D-4048-9E02-A10B6E412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opencity.in/dataset/tamil-nadu-crime-dat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opencity.in/dataset/tamil-nadu-crime-data?utm_source=chatgpt.co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00739" y="2947851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Cooper Black" panose="0208090404030B020404" pitchFamily="18" charset="0"/>
              </a:rPr>
              <a:t>Crime </a:t>
            </a:r>
            <a:r>
              <a:rPr lang="en-US" sz="6000" b="1" dirty="0">
                <a:latin typeface="Cooper Black" panose="0208090404030B020404" pitchFamily="18" charset="0"/>
              </a:rPr>
              <a:t>Data</a:t>
            </a:r>
            <a:r>
              <a:rPr lang="en-US" sz="6000" dirty="0">
                <a:latin typeface="Cooper Black" panose="0208090404030B020404" pitchFamily="18" charset="0"/>
              </a:rPr>
              <a:t> Analysis</a:t>
            </a:r>
            <a:endParaRPr lang="en-IN" sz="6000" dirty="0">
              <a:latin typeface="Cooper Black" panose="0208090404030B0204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19303" y="4376057"/>
            <a:ext cx="3605348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2014 - 2021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0" y="5199017"/>
            <a:ext cx="1959429" cy="4049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Tamil Nadu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52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728651"/>
          </a:xfrm>
        </p:spPr>
        <p:txBody>
          <a:bodyPr>
            <a:noAutofit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Task </a:t>
            </a:r>
            <a:r>
              <a:rPr lang="en-US" dirty="0"/>
              <a:t>Outline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717074"/>
            <a:ext cx="8596668" cy="3324288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Research crime statistics (from 2014 onwards) in Tamil </a:t>
            </a:r>
            <a:r>
              <a:rPr lang="en-US" dirty="0" smtClean="0"/>
              <a:t>Nadu</a:t>
            </a:r>
          </a:p>
          <a:p>
            <a:r>
              <a:rPr lang="en-US" dirty="0" smtClean="0"/>
              <a:t> </a:t>
            </a:r>
            <a:r>
              <a:rPr lang="en-US" dirty="0"/>
              <a:t>Analyze trends over 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Classify </a:t>
            </a:r>
            <a:r>
              <a:rPr lang="en-US" dirty="0"/>
              <a:t>crimes based on their nature. </a:t>
            </a:r>
            <a:endParaRPr lang="en-US" dirty="0" smtClean="0"/>
          </a:p>
          <a:p>
            <a:r>
              <a:rPr lang="en-US" dirty="0" smtClean="0"/>
              <a:t>Generate </a:t>
            </a:r>
            <a:r>
              <a:rPr lang="en-US" dirty="0"/>
              <a:t>innovative statistical charts. </a:t>
            </a:r>
            <a:endParaRPr lang="en-US" dirty="0" smtClean="0"/>
          </a:p>
          <a:p>
            <a:r>
              <a:rPr lang="en-US" dirty="0" smtClean="0"/>
              <a:t>Provide </a:t>
            </a:r>
            <a:r>
              <a:rPr lang="en-US" dirty="0"/>
              <a:t>critical insights and control suggestions. </a:t>
            </a:r>
            <a:endParaRPr lang="en-US" dirty="0" smtClean="0"/>
          </a:p>
          <a:p>
            <a:r>
              <a:rPr lang="en-US" dirty="0" smtClean="0"/>
              <a:t>Identify </a:t>
            </a:r>
            <a:r>
              <a:rPr lang="en-US" dirty="0"/>
              <a:t>variables that correlate with crime trends.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66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Executive 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32857"/>
            <a:ext cx="9172060" cy="4807132"/>
          </a:xfrm>
        </p:spPr>
        <p:txBody>
          <a:bodyPr>
            <a:normAutofit/>
          </a:bodyPr>
          <a:lstStyle/>
          <a:p>
            <a:r>
              <a:rPr lang="en-IN" b="1" dirty="0" smtClean="0"/>
              <a:t>Objective</a:t>
            </a:r>
            <a:r>
              <a:rPr lang="en-IN" dirty="0"/>
              <a:t>: </a:t>
            </a:r>
            <a:r>
              <a:rPr lang="en-IN" dirty="0" smtClean="0"/>
              <a:t>Analyze </a:t>
            </a:r>
            <a:r>
              <a:rPr lang="en-IN" dirty="0"/>
              <a:t>crime trends in Tamil Nadu (2014–2021) to identify patterns, high-risk categories, and correlations for strategic crime prevention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b="1" dirty="0"/>
              <a:t>Data Source</a:t>
            </a:r>
            <a:r>
              <a:rPr lang="en-IN" dirty="0"/>
              <a:t>: Tamil Nadu Crime Data from </a:t>
            </a:r>
            <a:r>
              <a:rPr lang="en-IN" dirty="0" smtClean="0">
                <a:hlinkClick r:id="rId2"/>
              </a:rPr>
              <a:t>OpenCity.in</a:t>
            </a:r>
            <a:endParaRPr lang="en-IN" dirty="0" smtClean="0"/>
          </a:p>
          <a:p>
            <a:endParaRPr lang="en-IN" dirty="0"/>
          </a:p>
          <a:p>
            <a:r>
              <a:rPr lang="en-IN" b="1" dirty="0"/>
              <a:t>Tools Used</a:t>
            </a:r>
            <a:r>
              <a:rPr lang="en-IN" dirty="0"/>
              <a:t>: Tabula, Excel, Python (pandas), Power </a:t>
            </a:r>
            <a:r>
              <a:rPr lang="en-IN" dirty="0" smtClean="0"/>
              <a:t>BI</a:t>
            </a:r>
          </a:p>
          <a:p>
            <a:endParaRPr lang="en-IN" dirty="0"/>
          </a:p>
          <a:p>
            <a:r>
              <a:rPr lang="en-IN" b="1" dirty="0"/>
              <a:t>Key Deliverables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Trend analysis over 8 years</a:t>
            </a:r>
          </a:p>
          <a:p>
            <a:pPr lvl="1"/>
            <a:r>
              <a:rPr lang="en-IN" dirty="0"/>
              <a:t>Classification of crimes by nature</a:t>
            </a:r>
          </a:p>
          <a:p>
            <a:pPr lvl="1"/>
            <a:r>
              <a:rPr lang="en-IN" dirty="0"/>
              <a:t>Statistical visualizations (Key Influencers, </a:t>
            </a:r>
            <a:r>
              <a:rPr lang="en-IN" dirty="0" err="1"/>
              <a:t>Heatmaps</a:t>
            </a:r>
            <a:r>
              <a:rPr lang="en-IN" dirty="0"/>
              <a:t>, Waterfall)</a:t>
            </a:r>
          </a:p>
          <a:p>
            <a:pPr lvl="1"/>
            <a:r>
              <a:rPr lang="en-IN" dirty="0"/>
              <a:t>Data-driven recommendations for policy and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948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Research crime statistics (from 2014 onwards) in Tamil Nadu</a:t>
            </a:r>
            <a:br>
              <a:rPr lang="en-US" dirty="0"/>
            </a:b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1 - For the analysis of crimes in Tamil Nadu, I collected the crime </a:t>
            </a:r>
            <a:r>
              <a:rPr lang="en-US" dirty="0"/>
              <a:t>wise data </a:t>
            </a:r>
            <a:r>
              <a:rPr lang="en-US" dirty="0" smtClean="0"/>
              <a:t>from 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data.opencity.in/dataset/tamil-nadu-crime-data?utm_source=chatgpt.com</a:t>
            </a:r>
            <a:r>
              <a:rPr lang="en-US" dirty="0" smtClean="0"/>
              <a:t>.</a:t>
            </a:r>
          </a:p>
          <a:p>
            <a:r>
              <a:rPr lang="en-US" dirty="0" smtClean="0"/>
              <a:t>Step 2 - I collected for the years 2014 to 2021.</a:t>
            </a:r>
          </a:p>
          <a:p>
            <a:r>
              <a:rPr lang="en-US" dirty="0" smtClean="0"/>
              <a:t>Step 3 - I downloaded the data as Pdf and then extracted the required tables using tabula and exported into a CSV file.</a:t>
            </a:r>
          </a:p>
          <a:p>
            <a:r>
              <a:rPr lang="en-US" dirty="0" smtClean="0"/>
              <a:t>Step 4 – I cleaned the data using Advanced excel and Python with pandas library and extracted again as a CSV file.</a:t>
            </a:r>
          </a:p>
          <a:p>
            <a:r>
              <a:rPr lang="en-US" dirty="0" smtClean="0"/>
              <a:t>Step 5 – Then Loaded and Transformed the data into the power query for much more cleaning and then finally into Power BI workspace.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00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Analyze trends over </a:t>
            </a:r>
            <a:r>
              <a:rPr lang="en-US" dirty="0" smtClean="0"/>
              <a:t>time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8983"/>
            <a:ext cx="9080620" cy="4382379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Year-on-year </a:t>
            </a:r>
            <a:r>
              <a:rPr lang="en-US" dirty="0"/>
              <a:t>trends show a gradual rise in violent crimes, peaking in 2019</a:t>
            </a:r>
            <a:r>
              <a:rPr lang="en-US" dirty="0" smtClean="0"/>
              <a:t>.</a:t>
            </a:r>
          </a:p>
          <a:p>
            <a:r>
              <a:rPr lang="en-IN" dirty="0"/>
              <a:t>Increasing trend in violent crimes — particularly "Hurt" and "Simple Hurt" between 2016–2020. </a:t>
            </a:r>
            <a:endParaRPr lang="en-US" dirty="0" smtClean="0"/>
          </a:p>
          <a:p>
            <a:r>
              <a:rPr lang="en-US" dirty="0" smtClean="0"/>
              <a:t>Negligence-related </a:t>
            </a:r>
            <a:r>
              <a:rPr lang="en-US" dirty="0"/>
              <a:t>crimes have remained consistently high, indicating weak road and public safety enforcement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IN" dirty="0"/>
              <a:t>Negligence-based crimes (like traffic incidents) have been steadily high after 2017. </a:t>
            </a:r>
          </a:p>
          <a:p>
            <a:r>
              <a:rPr lang="en-US" dirty="0" smtClean="0"/>
              <a:t>Certain </a:t>
            </a:r>
            <a:r>
              <a:rPr lang="en-US" dirty="0"/>
              <a:t>crime types appear to follow predictable patterns, useful for forecasting and prevention</a:t>
            </a:r>
            <a:r>
              <a:rPr lang="en-US" dirty="0" smtClean="0"/>
              <a:t>.</a:t>
            </a:r>
          </a:p>
          <a:p>
            <a:r>
              <a:rPr lang="en-IN" dirty="0" smtClean="0"/>
              <a:t>Some </a:t>
            </a:r>
            <a:r>
              <a:rPr lang="en-IN" dirty="0"/>
              <a:t>crime categories show seasonal or cyclical spikes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6896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Classify crimes based on their </a:t>
            </a:r>
            <a:r>
              <a:rPr lang="en-US" dirty="0" smtClean="0"/>
              <a:t>nature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2341"/>
            <a:ext cx="8989180" cy="48053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Classification</a:t>
            </a:r>
            <a:r>
              <a:rPr lang="en-IN" dirty="0" smtClean="0"/>
              <a:t>:</a:t>
            </a:r>
          </a:p>
          <a:p>
            <a:r>
              <a:rPr lang="en-IN" dirty="0" smtClean="0"/>
              <a:t>Violent </a:t>
            </a:r>
            <a:r>
              <a:rPr lang="en-IN" dirty="0"/>
              <a:t>Crimes – Murder, Attempt to Murder, Culpable Homicide, Grievous </a:t>
            </a:r>
            <a:r>
              <a:rPr lang="en-IN" dirty="0" smtClean="0"/>
              <a:t>Hurt</a:t>
            </a:r>
          </a:p>
          <a:p>
            <a:r>
              <a:rPr lang="en-IN" dirty="0" smtClean="0"/>
              <a:t>Negligence-Based </a:t>
            </a:r>
            <a:r>
              <a:rPr lang="en-IN" dirty="0"/>
              <a:t>Crimes – </a:t>
            </a:r>
            <a:r>
              <a:rPr lang="en-US" dirty="0"/>
              <a:t>Causing Death by Negligence, Road/Rail/Medical </a:t>
            </a:r>
            <a:r>
              <a:rPr lang="en-US" dirty="0" smtClean="0"/>
              <a:t>Negligence</a:t>
            </a:r>
          </a:p>
          <a:p>
            <a:r>
              <a:rPr lang="en-IN" dirty="0"/>
              <a:t>Crimes Against </a:t>
            </a:r>
            <a:r>
              <a:rPr lang="en-IN" dirty="0" smtClean="0"/>
              <a:t>Women - </a:t>
            </a:r>
            <a:r>
              <a:rPr lang="en-US" dirty="0"/>
              <a:t>Dowry Deaths, Sexual Harassment, Assault on </a:t>
            </a:r>
            <a:r>
              <a:rPr lang="en-US" dirty="0" smtClean="0"/>
              <a:t>Women</a:t>
            </a:r>
          </a:p>
          <a:p>
            <a:r>
              <a:rPr lang="en-IN" dirty="0"/>
              <a:t>Self-Inflicted </a:t>
            </a:r>
            <a:r>
              <a:rPr lang="en-IN" dirty="0" smtClean="0"/>
              <a:t>Acts - </a:t>
            </a:r>
            <a:r>
              <a:rPr lang="en-US" dirty="0"/>
              <a:t>Attempt to Commit Suicide, Abetment of </a:t>
            </a:r>
            <a:r>
              <a:rPr lang="en-US" dirty="0" smtClean="0"/>
              <a:t>Suicide</a:t>
            </a:r>
          </a:p>
          <a:p>
            <a:r>
              <a:rPr lang="en-IN" dirty="0"/>
              <a:t>Other IPC </a:t>
            </a:r>
            <a:r>
              <a:rPr lang="en-IN" dirty="0" smtClean="0"/>
              <a:t>Crimes - </a:t>
            </a:r>
            <a:r>
              <a:rPr lang="en-IN" dirty="0"/>
              <a:t>Wrongful Restraint, Acid Attack, etc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pPr marL="0" indent="0">
              <a:buNone/>
            </a:pPr>
            <a:r>
              <a:rPr lang="en-US" dirty="0" smtClean="0"/>
              <a:t>Basis: </a:t>
            </a:r>
          </a:p>
          <a:p>
            <a:r>
              <a:rPr lang="en-US" dirty="0" smtClean="0"/>
              <a:t>Crimes </a:t>
            </a:r>
            <a:r>
              <a:rPr lang="en-US" dirty="0"/>
              <a:t>were classified based on the </a:t>
            </a:r>
            <a:r>
              <a:rPr lang="en-US" b="1" dirty="0"/>
              <a:t>type of harm caused</a:t>
            </a:r>
            <a:r>
              <a:rPr lang="en-US" dirty="0"/>
              <a:t>, such as physical violence, negligence, or self-inflicted </a:t>
            </a:r>
            <a:r>
              <a:rPr lang="en-US" dirty="0" smtClean="0"/>
              <a:t>acts. </a:t>
            </a:r>
          </a:p>
          <a:p>
            <a:r>
              <a:rPr lang="en-US" dirty="0" smtClean="0"/>
              <a:t>They </a:t>
            </a:r>
            <a:r>
              <a:rPr lang="en-US" dirty="0"/>
              <a:t>were also grouped by </a:t>
            </a:r>
            <a:r>
              <a:rPr lang="en-US" b="1" dirty="0"/>
              <a:t>victim profile and legal context</a:t>
            </a:r>
            <a:r>
              <a:rPr lang="en-US" dirty="0"/>
              <a:t>, like crimes against women or IPC-defined offenses.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592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168" y="4136571"/>
            <a:ext cx="8596668" cy="1320800"/>
          </a:xfrm>
        </p:spPr>
        <p:txBody>
          <a:bodyPr>
            <a:noAutofit/>
          </a:bodyPr>
          <a:lstStyle/>
          <a:p>
            <a:pPr algn="r"/>
            <a:r>
              <a:rPr lang="en-US" sz="4400" dirty="0" smtClean="0"/>
              <a:t>Innovative statistical charts</a:t>
            </a:r>
            <a:r>
              <a:rPr lang="en-US" sz="4400" dirty="0"/>
              <a:t/>
            </a:r>
            <a:br>
              <a:rPr lang="en-US" sz="4400" dirty="0"/>
            </a:b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819509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Crime Data Analysis 2014 - 2021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92" y="1497856"/>
            <a:ext cx="8831751" cy="520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15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2439"/>
          </a:xfrm>
        </p:spPr>
        <p:txBody>
          <a:bodyPr/>
          <a:lstStyle/>
          <a:p>
            <a:pPr algn="ctr"/>
            <a:r>
              <a:rPr lang="en-US" dirty="0" smtClean="0"/>
              <a:t>Key Influencer Analysis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13" y="1412039"/>
            <a:ext cx="8873276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63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122023" y="3640183"/>
            <a:ext cx="8596313" cy="340360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Insights and Recommendations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873719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Insight for Violent Crimes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Insight:</a:t>
            </a:r>
            <a:r>
              <a:rPr lang="en-US" dirty="0"/>
              <a:t> </a:t>
            </a:r>
          </a:p>
          <a:p>
            <a:r>
              <a:rPr lang="en-US" dirty="0"/>
              <a:t>Violent crimes have the </a:t>
            </a:r>
            <a:r>
              <a:rPr lang="en-US" b="1" dirty="0"/>
              <a:t>highest average crime rate</a:t>
            </a:r>
            <a:r>
              <a:rPr lang="en-US" dirty="0"/>
              <a:t> and incidence among all crime categories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Recommendation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smtClean="0"/>
              <a:t>Implementation </a:t>
            </a:r>
            <a:r>
              <a:rPr lang="en-US" dirty="0"/>
              <a:t>of </a:t>
            </a:r>
            <a:r>
              <a:rPr lang="en-US" b="1" dirty="0"/>
              <a:t>community policing</a:t>
            </a:r>
            <a:r>
              <a:rPr lang="en-US" dirty="0"/>
              <a:t> programs and increasing </a:t>
            </a:r>
            <a:r>
              <a:rPr lang="en-US" b="1" dirty="0"/>
              <a:t>patrol frequency</a:t>
            </a:r>
            <a:r>
              <a:rPr lang="en-US" dirty="0"/>
              <a:t> in identified hotspots.</a:t>
            </a:r>
          </a:p>
          <a:p>
            <a:r>
              <a:rPr lang="en-US" dirty="0"/>
              <a:t>Encourage </a:t>
            </a:r>
            <a:r>
              <a:rPr lang="en-US" b="1" dirty="0"/>
              <a:t>youth engagement programs</a:t>
            </a:r>
            <a:r>
              <a:rPr lang="en-US" dirty="0"/>
              <a:t> to divert vulnerable populations from violence.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679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50" y="1175657"/>
            <a:ext cx="9431066" cy="5343489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Incidence of Violent Crimes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8174062" y="718457"/>
            <a:ext cx="167204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Tooltips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608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Most Common Crime Heads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8610357" cy="38483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Insight:</a:t>
            </a:r>
            <a:r>
              <a:rPr lang="en-US" dirty="0"/>
              <a:t> </a:t>
            </a:r>
          </a:p>
          <a:p>
            <a:r>
              <a:rPr lang="en-US" dirty="0"/>
              <a:t>“Hurt” and “Simple Hurt” top the list of average incidents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Recommendation</a:t>
            </a:r>
            <a:r>
              <a:rPr lang="en-US" b="1" dirty="0" smtClean="0"/>
              <a:t>:</a:t>
            </a:r>
            <a:endParaRPr lang="en-US" dirty="0"/>
          </a:p>
          <a:p>
            <a:r>
              <a:rPr lang="en-US" dirty="0"/>
              <a:t>Promote </a:t>
            </a:r>
            <a:r>
              <a:rPr lang="en-US" b="1" dirty="0"/>
              <a:t>conflict resolution workshops</a:t>
            </a:r>
            <a:r>
              <a:rPr lang="en-US" dirty="0"/>
              <a:t> and awareness campaigns on </a:t>
            </a:r>
            <a:r>
              <a:rPr lang="en-US" b="1" dirty="0"/>
              <a:t>non-violent communication</a:t>
            </a:r>
            <a:r>
              <a:rPr lang="en-US" dirty="0"/>
              <a:t>.</a:t>
            </a:r>
          </a:p>
          <a:p>
            <a:r>
              <a:rPr lang="en-US" dirty="0"/>
              <a:t>Introduce stricter penalties for recurring offenders in these categories.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774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Hurt and Simple Hurt are the most common Crime Heads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15" y="2070813"/>
            <a:ext cx="8987906" cy="45912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65502" y="1473200"/>
            <a:ext cx="167204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Tooltips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87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High – Negligence Crimes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Insight:</a:t>
            </a:r>
            <a:r>
              <a:rPr lang="en-US" dirty="0"/>
              <a:t> </a:t>
            </a:r>
          </a:p>
          <a:p>
            <a:r>
              <a:rPr lang="en-US" dirty="0"/>
              <a:t>After violent crimes,</a:t>
            </a:r>
            <a:r>
              <a:rPr lang="en-US" b="1" dirty="0"/>
              <a:t> negligence-based crimes </a:t>
            </a:r>
            <a:r>
              <a:rPr lang="en-US" dirty="0"/>
              <a:t>(traffic-related or administrative negligence) rank second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Recommendation</a:t>
            </a:r>
            <a:r>
              <a:rPr lang="en-US" b="1" dirty="0" smtClean="0"/>
              <a:t>:</a:t>
            </a:r>
            <a:endParaRPr lang="en-US" dirty="0"/>
          </a:p>
          <a:p>
            <a:r>
              <a:rPr lang="en-US" dirty="0" smtClean="0"/>
              <a:t>Enforce </a:t>
            </a:r>
            <a:r>
              <a:rPr lang="en-US" b="1" dirty="0"/>
              <a:t>road safety regulations</a:t>
            </a:r>
            <a:r>
              <a:rPr lang="en-US" dirty="0"/>
              <a:t>, conduct </a:t>
            </a:r>
            <a:r>
              <a:rPr lang="en-US" b="1" dirty="0"/>
              <a:t>driver education</a:t>
            </a:r>
            <a:r>
              <a:rPr lang="en-US" dirty="0"/>
              <a:t> and awareness drives.</a:t>
            </a:r>
          </a:p>
          <a:p>
            <a:r>
              <a:rPr lang="en-US" dirty="0"/>
              <a:t>Regularly audit </a:t>
            </a:r>
            <a:r>
              <a:rPr lang="en-US" b="1" dirty="0"/>
              <a:t>public infrastructure</a:t>
            </a:r>
            <a:r>
              <a:rPr lang="en-US" dirty="0"/>
              <a:t> and enforce accountability for lapses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9265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High – </a:t>
            </a:r>
            <a:r>
              <a:rPr lang="en-US" dirty="0" smtClean="0"/>
              <a:t>Negligence based </a:t>
            </a:r>
            <a:r>
              <a:rPr lang="en-US" dirty="0"/>
              <a:t>Crimes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2" y="1372045"/>
            <a:ext cx="9459645" cy="53156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56942" y="762223"/>
            <a:ext cx="167204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Tooltips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582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 smtClean="0"/>
              <a:t>Total Incidence Drive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From the </a:t>
            </a:r>
            <a:r>
              <a:rPr lang="en-US" b="1" dirty="0"/>
              <a:t>Waterfall chart</a:t>
            </a:r>
            <a:r>
              <a:rPr lang="en-US" dirty="0"/>
              <a:t>, crimes like </a:t>
            </a:r>
            <a:r>
              <a:rPr lang="en-US" i="1" dirty="0"/>
              <a:t>Hurt</a:t>
            </a:r>
            <a:r>
              <a:rPr lang="en-US" dirty="0"/>
              <a:t> and </a:t>
            </a:r>
            <a:r>
              <a:rPr lang="en-US" i="1" dirty="0"/>
              <a:t>Simple Hurt</a:t>
            </a:r>
            <a:r>
              <a:rPr lang="en-US" dirty="0"/>
              <a:t> contribute the </a:t>
            </a:r>
            <a:r>
              <a:rPr lang="en-US" b="1" dirty="0"/>
              <a:t>largest increases</a:t>
            </a:r>
            <a:r>
              <a:rPr lang="en-US" dirty="0"/>
              <a:t> to total crime incidence across all heads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Recommendation</a:t>
            </a:r>
            <a:r>
              <a:rPr lang="en-US" b="1" dirty="0"/>
              <a:t>:</a:t>
            </a:r>
            <a:endParaRPr lang="en-US" dirty="0"/>
          </a:p>
          <a:p>
            <a:r>
              <a:rPr lang="en-US" b="1" dirty="0"/>
              <a:t>Promote violence de-escalation training</a:t>
            </a:r>
            <a:r>
              <a:rPr lang="en-US" dirty="0"/>
              <a:t> and initiate </a:t>
            </a:r>
            <a:r>
              <a:rPr lang="en-US" b="1" dirty="0"/>
              <a:t>community mediation cells</a:t>
            </a:r>
            <a:r>
              <a:rPr lang="en-US" dirty="0"/>
              <a:t> at local levels.</a:t>
            </a:r>
          </a:p>
          <a:p>
            <a:r>
              <a:rPr lang="en-US" b="1" dirty="0"/>
              <a:t>Introduce school and college behavioral education modules</a:t>
            </a:r>
            <a:r>
              <a:rPr lang="en-US" dirty="0"/>
              <a:t> to address aggression early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874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Hurt </a:t>
            </a:r>
            <a:r>
              <a:rPr lang="en-US" b="1" dirty="0"/>
              <a:t>and </a:t>
            </a:r>
            <a:r>
              <a:rPr lang="en-US" b="1" dirty="0" smtClean="0"/>
              <a:t>Simple Hurt </a:t>
            </a:r>
            <a:r>
              <a:rPr lang="en-US" b="1" dirty="0"/>
              <a:t>Drive 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Total Incidence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04" y="1644646"/>
            <a:ext cx="8852513" cy="4913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6313" y="1041400"/>
            <a:ext cx="167204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Tooltips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785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Total Crime Rate Strongly Influences Total Incidence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Key Influencers visual</a:t>
            </a:r>
            <a:r>
              <a:rPr lang="en-US" dirty="0"/>
              <a:t> shows a strong </a:t>
            </a:r>
            <a:r>
              <a:rPr lang="en-US" b="1" dirty="0"/>
              <a:t>positive correlation</a:t>
            </a:r>
            <a:r>
              <a:rPr lang="en-US" dirty="0"/>
              <a:t> — as the </a:t>
            </a:r>
            <a:r>
              <a:rPr lang="en-US" b="1" dirty="0"/>
              <a:t>average crime rate increases</a:t>
            </a:r>
            <a:r>
              <a:rPr lang="en-US" dirty="0"/>
              <a:t>, </a:t>
            </a:r>
            <a:r>
              <a:rPr lang="en-US" b="1" dirty="0"/>
              <a:t>total incidence also increases</a:t>
            </a:r>
            <a:r>
              <a:rPr lang="en-US" dirty="0"/>
              <a:t> consistently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Recommendation:</a:t>
            </a:r>
            <a:endParaRPr lang="en-US" dirty="0"/>
          </a:p>
          <a:p>
            <a:r>
              <a:rPr lang="en-US" dirty="0"/>
              <a:t>Apply </a:t>
            </a:r>
            <a:r>
              <a:rPr lang="en-US" b="1" dirty="0"/>
              <a:t>predictive policing models</a:t>
            </a:r>
            <a:r>
              <a:rPr lang="en-US" dirty="0"/>
              <a:t> using crime rate data to forecast and prevent spikes in crime incidence.</a:t>
            </a:r>
          </a:p>
          <a:p>
            <a:r>
              <a:rPr lang="en-US" dirty="0"/>
              <a:t>Focus on </a:t>
            </a:r>
            <a:r>
              <a:rPr lang="en-US" b="1" dirty="0"/>
              <a:t>early warning systems</a:t>
            </a:r>
            <a:r>
              <a:rPr lang="en-US" dirty="0"/>
              <a:t> in high-rate zones using data-driven alerts and targeted interventions.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182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Key Influencers of Crime Incidence and Rates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930399"/>
            <a:ext cx="5031134" cy="46010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165" y="2558790"/>
            <a:ext cx="4060738" cy="3384810"/>
          </a:xfrm>
          <a:prstGeom prst="rect">
            <a:avLst/>
          </a:prstGeom>
        </p:spPr>
      </p:pic>
      <p:cxnSp>
        <p:nvCxnSpPr>
          <p:cNvPr id="12" name="Elbow Connector 11"/>
          <p:cNvCxnSpPr/>
          <p:nvPr/>
        </p:nvCxnSpPr>
        <p:spPr>
          <a:xfrm>
            <a:off x="4872446" y="2181497"/>
            <a:ext cx="1358537" cy="7445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01957" y="1787395"/>
            <a:ext cx="206455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Buttons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92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Candara" panose="020E0502030303020204" pitchFamily="34" charset="0"/>
              </a:rPr>
              <a:t>Correlation Heat Map</a:t>
            </a:r>
            <a:endParaRPr lang="en-IN" dirty="0">
              <a:latin typeface="Candara" panose="020E0502030303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28" r="2126"/>
          <a:stretch/>
        </p:blipFill>
        <p:spPr>
          <a:xfrm>
            <a:off x="1021079" y="1760309"/>
            <a:ext cx="8252923" cy="46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86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Thankyou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Regards,</a:t>
            </a:r>
          </a:p>
          <a:p>
            <a:r>
              <a:rPr lang="en-US" dirty="0" smtClean="0"/>
              <a:t>Akshaya S 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1591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Override1.xml><?xml version="1.0" encoding="utf-8"?>
<a:themeOverride xmlns:a="http://schemas.openxmlformats.org/drawingml/2006/main">
  <a:clrScheme name="Facet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90C226"/>
    </a:accent1>
    <a:accent2>
      <a:srgbClr val="54A021"/>
    </a:accent2>
    <a:accent3>
      <a:srgbClr val="E6B91E"/>
    </a:accent3>
    <a:accent4>
      <a:srgbClr val="E76618"/>
    </a:accent4>
    <a:accent5>
      <a:srgbClr val="C42F1A"/>
    </a:accent5>
    <a:accent6>
      <a:srgbClr val="918655"/>
    </a:accent6>
    <a:hlink>
      <a:srgbClr val="99CA3C"/>
    </a:hlink>
    <a:folHlink>
      <a:srgbClr val="B9D181"/>
    </a:folHlink>
  </a:clrScheme>
</a:themeOverride>
</file>

<file path=ppt/theme/themeOverride2.xml><?xml version="1.0" encoding="utf-8"?>
<a:themeOverride xmlns:a="http://schemas.openxmlformats.org/drawingml/2006/main">
  <a:clrScheme name="Facet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90C226"/>
    </a:accent1>
    <a:accent2>
      <a:srgbClr val="54A021"/>
    </a:accent2>
    <a:accent3>
      <a:srgbClr val="E6B91E"/>
    </a:accent3>
    <a:accent4>
      <a:srgbClr val="E76618"/>
    </a:accent4>
    <a:accent5>
      <a:srgbClr val="C42F1A"/>
    </a:accent5>
    <a:accent6>
      <a:srgbClr val="918655"/>
    </a:accent6>
    <a:hlink>
      <a:srgbClr val="99CA3C"/>
    </a:hlink>
    <a:folHlink>
      <a:srgbClr val="B9D18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607</Words>
  <Application>Microsoft Office PowerPoint</Application>
  <PresentationFormat>Widescreen</PresentationFormat>
  <Paragraphs>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Candara</vt:lpstr>
      <vt:lpstr>Cooper Black</vt:lpstr>
      <vt:lpstr>Trebuchet MS</vt:lpstr>
      <vt:lpstr>Wingdings 3</vt:lpstr>
      <vt:lpstr>Facet</vt:lpstr>
      <vt:lpstr>Crime Data Analysis</vt:lpstr>
      <vt:lpstr> Task Outline</vt:lpstr>
      <vt:lpstr>Executive Summary </vt:lpstr>
      <vt:lpstr>Research crime statistics (from 2014 onwards) in Tamil Nadu </vt:lpstr>
      <vt:lpstr> Analyze trends over time </vt:lpstr>
      <vt:lpstr>Classify crimes based on their nature </vt:lpstr>
      <vt:lpstr>Innovative statistical charts </vt:lpstr>
      <vt:lpstr>Crime Data Analysis 2014 - 2021</vt:lpstr>
      <vt:lpstr>Key Influencer Analysis</vt:lpstr>
      <vt:lpstr>Insights and Recommendations</vt:lpstr>
      <vt:lpstr>Insight for Violent Crimes </vt:lpstr>
      <vt:lpstr>High Incidence of Violent Crimes</vt:lpstr>
      <vt:lpstr>Most Common Crime Heads</vt:lpstr>
      <vt:lpstr>Hurt and Simple Hurt are the most common Crime Heads</vt:lpstr>
      <vt:lpstr>High – Negligence Crimes</vt:lpstr>
      <vt:lpstr>High – Negligence based Crimes</vt:lpstr>
      <vt:lpstr>Total Incidence Drive </vt:lpstr>
      <vt:lpstr>Hurt and Simple Hurt Drive  Total Incidence </vt:lpstr>
      <vt:lpstr>Total Crime Rate Strongly Influences Total Incidence</vt:lpstr>
      <vt:lpstr>Key Influencers of Crime Incidence and Rates</vt:lpstr>
      <vt:lpstr>Correlation Heat Map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Data Analysis 2014 - 2021</dc:title>
  <dc:creator>D E L L</dc:creator>
  <cp:lastModifiedBy>D E L L</cp:lastModifiedBy>
  <cp:revision>7</cp:revision>
  <dcterms:created xsi:type="dcterms:W3CDTF">2025-06-25T12:57:03Z</dcterms:created>
  <dcterms:modified xsi:type="dcterms:W3CDTF">2025-06-25T13:49:43Z</dcterms:modified>
</cp:coreProperties>
</file>